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71" r:id="rId19"/>
    <p:sldId id="280" r:id="rId28"/>
    <p:sldId id="282" r:id="rId30"/>
    <p:sldId id="268" r:id="rId16"/>
    <p:sldId id="277" r:id="rId25"/>
    <p:sldId id="272" r:id="rId20"/>
    <p:sldId id="279" r:id="rId27"/>
    <p:sldId id="275" r:id="rId23"/>
    <p:sldId id="267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3" Type="http://schemas.openxmlformats.org/officeDocument/2006/relationships/slide" Target="slides/slide20.xml"/><Relationship Id="rId25" Type="http://schemas.openxmlformats.org/officeDocument/2006/relationships/slide" Target="slides/slide22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30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Recall: план</c:v>
                </c:pt>
                <c:pt idx="1">
                  <c:v>Recall: наш</c:v>
                </c:pt>
                <c:pt idx="2">
                  <c:v>Precision: план</c:v>
                </c:pt>
                <c:pt idx="3">
                  <c:v>Precision: наш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0.544</c:v>
                </c:pt>
                <c:pt idx="2">
                  <c:v>0.7</c:v>
                </c:pt>
                <c:pt idx="3">
                  <c:v>0.643</c:v>
                </c:pt>
              </c:numCache>
            </c:numRef>
          </c:val>
        </c:ser>
        <c:dLbls>
          <c:showBubbleSize val="0"/>
          <c:showCatName val="0"/>
          <c:showLeaderLines val="0"/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0.25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D2238-25F6-F084-F194-B08C82005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826.png"/><Relationship Id="rId5" Type="http://schemas.openxmlformats.org/officeDocument/2006/relationships/image" Target="../media/image827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0" indent="0">
              <a:buNone/>
              <a:defRPr/>
            </a:pPr>
            <a:r>
              <a:t>Прогноз отказов в коллекторах Москвы</a:t>
            </a:r>
            <a:endParaRPr lang="ru-RU" sz="480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0" marL="0">
              <a:buNone/>
              <a:defRPr/>
            </a:pPr>
            <a:r>
              <a:t>Команда «Скайнет» · ДЖКХ Москвы, АО «Москоллектор»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636791008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>
          <a:xfrm>
            <a:off x="411480" y="411480"/>
            <a:ext cx="2547257" cy="91440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Модель учится на настоящем журнале СМВУ: 313,5 млн записей за 7,5 лет. Каждый риск объяснён словами, схема по пикетам — такую заказчик сам рекомендовал, а стек совпал с его СМВУ: PostgreSQL, Python, nginx, Debian.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rgbClr val="FF0053"/>
                </a:solidFill>
              </a:rPr>
              <a:t>Николай Тлехугов, [специальность]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2 человека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познакомились в СИБУРе на проектах цифровой трансформации и внедрения SAP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rgbClr val="FF0053"/>
                </a:solidFill>
              </a:rPr>
              <a:t>[место работы / учёбы участников]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</a:t>
            </a:r>
            <a:r>
              <a:rPr lang="ru-RU">
                <a:solidFill>
                  <a:schemeClr val="tx1"/>
                </a:solidFill>
              </a:rPr>
              <a:t>Москва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О КОМАНДЕ И РЕШЕНИИ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Сервис раз в час считает для 3 173 участков коллекторов риск, что датчик потеряет связь в ближайшие 24 часа, показывает риск на схеме по пикетам и сам создаёт заявку на осмотр до отказа.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2011680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Бэкенд, фронтенд, база, заявки, развёртывание, документы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000">
                <a:solidFill>
                  <a:schemeClr val="tx1"/>
                </a:solidFill>
              </a:rPr>
              <a:t>@miroslavabogatyreva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+7 916 269-81-55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rgbClr val="FF0053"/>
                </a:solidFill>
              </a:rPr>
              <a:t>[место работы / учёбы]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Мирослава Богатырева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СОСТАВ КОМАНДЫ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2011680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Капитан; ML: признаки, обучение модели, метрики, объяснимость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@ntlekhugov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+7 917 506-25-11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rgbClr val="FF0053"/>
                </a:solidFill>
              </a:rPr>
              <a:t>[место работы / учёбы]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Николай Тлехугов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t>ИСТОРИЯ КОМАНДЫ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73152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Мы познакомились в СИБУРе: Николай был руководителем Мирославы. Вместе вели проекты цифровой трансформации, в том числе внедрение SAP, и на хакатон пришли уже сработавшейся командой.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В выгрузке нет координат, актов выездов и истории ремонтов — заказчик подтвердил, что их не будет. Мы сами определили отказ (серия «Неисправен» дольше часа), нарисовали схему по пикетам вместо карты, выбросили 2021 год (53,7 млн строк переходного периода) и ускорили расчёт по парку с 32,7 до 3,6 с.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Сложности и как мы их прошли</a:t>
            </a:r>
            <a:br>
              <a:rPr lang="ru-RU" b="1">
                <a:solidFill>
                  <a:schemeClr val="accent5"/>
                </a:solidFill>
              </a:rPr>
            </a:b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Настоящие данные: 313,5 млн записей журнала СМВУ за 7,5 лет. И выход в работу: прогноз полезен, когда из него выходит заявка бригаде.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выбрали эту задачу</a:t>
            </a:r>
            <a:br>
              <a:rPr lang="ru-RU" b="1">
                <a:solidFill>
                  <a:schemeClr val="accent5"/>
                </a:solidFill>
              </a:rPr>
            </a:b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Журнал СМВУ → эпизоды отказа → признаки → модель LightGBM → риск для 3 173 участков раз в час.</a:t>
            </a:r>
            <a:endParaRPr/>
          </a:p>
          <a:p>
            <a:r>
              <a:rPr>
                <a:solidFill>
                  <a:srgbClr val="1C1D22"/>
                </a:solidFill>
              </a:rPr>
              <a:t>Python + FastAPI, PostgreSQL 18 + PostGIS, экран на Preact: меньше 150 КБ JS для старых АРМ диспетчеров.</a:t>
            </a:r>
          </a:p>
          <a:p>
            <a:r>
              <a:rPr>
                <a:solidFill>
                  <a:srgbClr val="1C1D22"/>
                </a:solidFill>
              </a:rPr>
              <a:t>REST API, роли диспетчера, ОДС и техника; заявки со сроком реакции 16 / 48 / 72 ч по Регламенту.</a:t>
            </a:r>
          </a:p>
          <a:p>
            <a:r>
              <a:rPr>
                <a:solidFill>
                  <a:srgbClr val="1C1D22"/>
                </a:solidFill>
              </a:rPr>
              <a:t>Поставка — docker compose, пакет разворачивается одной командой.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Диспетчер ОДС узнаёт, где откажет связь, за сутки до отказа, а не по факту.</a:t>
            </a:r>
            <a:endParaRPr/>
          </a:p>
          <a:p>
            <a:r>
              <a:rPr>
                <a:solidFill>
                  <a:srgbClr val="1C1D22"/>
                </a:solidFill>
              </a:rPr>
              <a:t>Бригада едет по заявке, в которой написано, почему участок в риске.</a:t>
            </a:r>
          </a:p>
          <a:p>
            <a:r>
              <a:rPr>
                <a:solidFill>
                  <a:srgbClr val="1C1D22"/>
                </a:solidFill>
              </a:rPr>
              <a:t>Дальше — весь парк: около 100 000 датчиков ОПС и ДУ, 825 км коллекторов, связка с системой заявок заказчика.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Демо-стенд: moskollektor.mbogatyreva.ru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Демо-учётки — на странице входа</a:t>
            </a: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Код: github.com/miroslavabogatyreva/moskollektor</a:t>
            </a: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Капитан: Николай Тлехугов</a:t>
            </a: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@ntlekhugov · +7 917 506-25-11</a:t>
            </a: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 marL="0" indent="0">
              <a:buNone/>
              <a:defRPr/>
            </a:pPr>
            <a:r>
              <a:rPr sz="3600">
                <a:solidFill>
                  <a:srgbClr val="520978"/>
                </a:solidFill>
              </a:rPr>
              <a:t>СПАСИБО!</a:t>
            </a:r>
            <a:endParaRPr lang="ru-RU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r>
              <a:t>ПОЧЕМУ ТАКОЙ РИСК</a:t>
            </a:r>
          </a:p>
        </p:txBody>
      </p:sp>
      <p:pic>
        <p:nvPicPr>
          <p:cNvPr id="2041726419" name="Picture 2041726418" descr="c-ob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6766560" cy="2837590"/>
          </a:xfrm>
          <a:prstGeom prst="rect">
            <a:avLst/>
          </a:prstGeom>
        </p:spPr>
      </p:pic>
      <p:sp>
        <p:nvSpPr>
          <p:cNvPr id="2041726420" name="TextBox 2041726419"/>
          <p:cNvSpPr txBox="1"/>
          <p:nvPr/>
        </p:nvSpPr>
        <p:spPr>
          <a:xfrm>
            <a:off x="768096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C1D22"/>
                </a:solidFill>
              </a:rPr>
              <a:t>Карточка участка объясняет прогноз обычными словами.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2"/>
                </a:solidFill>
              </a:rPr>
              <a:t>Сколько суток прошло с прошлых аварий коллектора, как часто за аварией в течение месяца шла следующая, сколько каналов стали писать реже — это модель и видит.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C1D22"/>
                </a:solidFill>
              </a:rPr>
              <a:t>Ниже — паспорт участка и история отказов каждого канала: сколько раз, когда последний, сколько в среднем лежит.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38587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2400">
                <a:solidFill>
                  <a:srgbClr val="520978"/>
                </a:solidFill>
              </a:rPr>
              <a:t>825 км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коллекторов АО «Москоллектор» — парк, для которого делаем прогноз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sz="2400">
                <a:solidFill>
                  <a:srgbClr val="520978"/>
                </a:solidFill>
              </a:rPr>
              <a:t>11 485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каналов датчиков в выгрузке; в парке около 108 500, у нас 10,6 %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sz="2400">
                <a:solidFill>
                  <a:srgbClr val="520978"/>
                </a:solidFill>
              </a:rPr>
              <a:t>313,5 млн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записей журнала СМВУ за 2019 — июнь 2026, это 7,5 года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sz="2400">
                <a:solidFill>
                  <a:srgbClr val="520978"/>
                </a:solidFill>
              </a:rPr>
              <a:t>3 173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участка по 10 м — единица прогноза; вместе покрывают 31,7 км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ДАННЫЕ ЗАКАЗЧИКА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Потолок в данных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У 41 % отказов канал молчит все 8 суток до события. Даже оракул, знающий будущее, не поднимет Recall выше 0,59.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Хронические места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Три коллектора дают 55–85 % попаданий. Первый отказ после затишья не предсказать — это 29–45 % инцидентов.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Малая выборка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На 143 предупреждениях интервал 95 % для Precision — 0,562…0,717: 0,70 и 0,63 неразличимы. Заказчик разрешил снижать план с обоснованием.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ПОЧЕМУ PRECISION НИЖЕ 0,7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345643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spcAft>
                <a:spcPts val="1400"/>
              </a:spcAft>
              <a:buNone/>
              <a:defRPr/>
            </a:pPr>
            <a:r>
              <a:rPr sz="1800">
                <a:solidFill>
                  <a:srgbClr val="1C1D22"/>
                </a:solidFill>
              </a:rPr>
              <a:t>Сейчас сервис работает на выгрузке: 11 485 каналов, около 10 % парка.</a:t>
            </a:r>
            <a:endParaRPr lang="ru-RU" sz="3600" b="1">
              <a:solidFill>
                <a:schemeClr val="tx1"/>
              </a:solidFill>
            </a:endParaRPr>
          </a:p>
          <a:p>
            <a:pPr marL="0" indent="0" algn="l">
              <a:spcAft>
                <a:spcPts val="1400"/>
              </a:spcAft>
              <a:buNone/>
            </a:pPr>
            <a:r>
              <a:rPr sz="1800">
                <a:solidFill>
                  <a:srgbClr val="1C1D22"/>
                </a:solidFill>
              </a:rPr>
              <a:t>Дальше — живой поток данных и весь парк Москоллектора: 825 км и около 100 000 датчиков.</a:t>
            </a: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Переобучить модель на горизонт 24 ч и перемерить Precision и Recall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Прогноз до отдельного датчика, а не только до участка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Живой поток СМВУ вместо выгрузки, задержка не больше 300 с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Весь парк: около 100 000 датчиков, 178 диспетчерских пунктов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Отметки бригад «ложная тревога» — в дообучение модели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ПЛАНЫ РАЗВИТИЯ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/>
          <p:cNvSpPr/>
          <p:nvPr/>
        </p:nvSpPr>
        <p:spPr bwMode="auto"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Precision 0,643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план заказчика &gt; 0,7; 92 верных из 143 предупреждений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Recall 0,544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план &gt; 0,5; поймано 92 из 169 инцидентов, апрель — июнь 2026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3,6 с на весь парк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расчёт 3 173 участков при норме меньше 5 минут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FF0053"/>
                </a:solidFill>
              </a:rPr>
              <a:t>Горизонт 24 часа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числа выше сняты на модели с горизонтом 30 суток; перемер на 24 ч — в работе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779449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МЕТРИКИ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База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PostgreSQL 18 + PostGIS 3.6, секции по времени; DuckDB поверх Parquet — для истории и обучающих выборок</a:t>
            </a: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Сервер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Python + FastAPI, REST API; планировщик APScheduler с блокировкой в базе — расчёт не запустится дважды</a:t>
            </a: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Экран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Preact + TypeScript + Tailwind, меньше 150 КБ JS. Поставка — docker compose; стек совпал с СМВУ заказчика</a:t>
            </a: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АРХИТЕКТУРА</a:t>
            </a:r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46634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Журнал СМВУ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313,5 млн записей в PostgreSQL, секции по времени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Отказ — эпизод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«Неисправен» дольше часа; отказы коллектора за 60 мин — один инцидент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Модель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LightGBM оценивает вероятность отказа участка, раз в час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Риск и причина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3 173 участка по убыванию риска, у каждого — причины словами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520978"/>
                </a:solidFill>
              </a:rPr>
              <a:t>Заявка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>
                <a:solidFill>
                  <a:srgbClr val="1C1D22"/>
                </a:solidFill>
              </a:rPr>
              <a:t>высокий риск → заявка на осмотр, срок реакции 16, 48 или 72 ч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КАК РАБОТАЕТ ПРОГНОЗ</a:t>
            </a:r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920140" name="Скругленный прямоугольник 1"/>
          <p:cNvSpPr/>
          <p:nvPr/>
        </p:nvSpPr>
        <p:spPr bwMode="auto">
          <a:xfrm>
            <a:off x="346075" y="324562"/>
            <a:ext cx="466344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1669354889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moskollektor.mbogatyreva.ru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2043882463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moskollektor.mbogatyreva.ru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/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59850212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0451759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Дашборд рисков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3 173 участка по убыванию вероятности; критический прогноз — красной плашкой с кнопкой «Принял»</a:t>
            </a:r>
          </a:p>
        </p:txBody>
      </p:sp>
      <p:sp>
        <p:nvSpPr>
          <p:cNvPr id="1059197431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b="1">
                <a:solidFill>
                  <a:srgbClr val="520978"/>
                </a:solidFill>
              </a:rPr>
              <a:t>Схема коллектора по пикетам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rgbClr val="1C1D22"/>
                </a:solidFill>
              </a:rPr>
              <a:t>вместо карты — так рекомендовал заказчик; масштаб, сдвиг по линии, фильтр по риску и типу объекта</a:t>
            </a:r>
          </a:p>
        </p:txBody>
      </p:sp>
      <p:pic>
        <p:nvPicPr>
          <p:cNvPr id="167489076" name="Рисунок 4" descr="c-dash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28" b="128"/>
          <a:stretch>
            <a:fillRect/>
          </a:stretch>
        </p:blipFill>
        <p:spPr/>
      </p:pic>
      <p:pic>
        <p:nvPicPr>
          <p:cNvPr id="972201544" name="Рисунок 5" descr="c-map.pn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t="102" b="102"/>
          <a:stretch>
            <a:fillRect/>
          </a:stretch>
        </p:blipFill>
        <p:spPr/>
      </p:pic>
      <p:sp>
        <p:nvSpPr>
          <p:cNvPr id="154853630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r>
              <a:t>ПРОДУКТ: ЖИВОЙ СТЕНД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